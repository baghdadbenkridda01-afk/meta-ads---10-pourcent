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Poppins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Poppins"/>
              </a:rPr>
              <a:t>Pubs actives, par semaine de lancement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10%</c:v>
                </c:pt>
              </c:strCache>
            </c:strRef>
          </c:tx>
          <c:spPr>
            <a:solidFill>
              <a:srgbClr val="A41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6 août</c:v>
                  </c:pt>
                  <c:pt idx="1">
                    <c:v>13 août</c:v>
                  </c:pt>
                  <c:pt idx="2">
                    <c:v>20 août</c:v>
                  </c:pt>
                  <c:pt idx="3">
                    <c:v>27 août</c:v>
                  </c:pt>
                  <c:pt idx="4">
                    <c:v>3 sept</c:v>
                  </c:pt>
                  <c:pt idx="5">
                    <c:v>10 sept</c:v>
                  </c:pt>
                  <c:pt idx="6">
                    <c:v>17 sept</c:v>
                  </c:pt>
                  <c:pt idx="7">
                    <c:v>24 sept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6</c:v>
                </c:pt>
                <c:pt idx="2">
                  <c:v>4</c:v>
                </c:pt>
                <c:pt idx="3">
                  <c:v>1</c:v>
                </c:pt>
                <c:pt idx="4">
                  <c:v>0</c:v>
                </c:pt>
                <c:pt idx="5">
                  <c:v>11</c:v>
                </c:pt>
                <c:pt idx="6">
                  <c:v>3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Joko</c:v>
                </c:pt>
              </c:strCache>
            </c:strRef>
          </c:tx>
          <c:spPr>
            <a:solidFill>
              <a:srgbClr val="005B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6 août</c:v>
                  </c:pt>
                  <c:pt idx="1">
                    <c:v>13 août</c:v>
                  </c:pt>
                  <c:pt idx="2">
                    <c:v>20 août</c:v>
                  </c:pt>
                  <c:pt idx="3">
                    <c:v>27 août</c:v>
                  </c:pt>
                  <c:pt idx="4">
                    <c:v>3 sept</c:v>
                  </c:pt>
                  <c:pt idx="5">
                    <c:v>10 sept</c:v>
                  </c:pt>
                  <c:pt idx="6">
                    <c:v>17 sept</c:v>
                  </c:pt>
                  <c:pt idx="7">
                    <c:v>24 sept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</c:v>
                </c:pt>
                <c:pt idx="1">
                  <c:v>0</c:v>
                </c:pt>
                <c:pt idx="2">
                  <c:v>15</c:v>
                </c:pt>
                <c:pt idx="3">
                  <c:v>3</c:v>
                </c:pt>
                <c:pt idx="4">
                  <c:v>10</c:v>
                </c:pt>
                <c:pt idx="5">
                  <c:v>13</c:v>
                </c:pt>
                <c:pt idx="6">
                  <c:v>14</c:v>
                </c:pt>
                <c:pt idx="7">
                  <c:v>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Ibotta</c:v>
                </c:pt>
              </c:strCache>
            </c:strRef>
          </c:tx>
          <c:spPr>
            <a:solidFill>
              <a:srgbClr val="BA7A1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6 août</c:v>
                  </c:pt>
                  <c:pt idx="1">
                    <c:v>13 août</c:v>
                  </c:pt>
                  <c:pt idx="2">
                    <c:v>20 août</c:v>
                  </c:pt>
                  <c:pt idx="3">
                    <c:v>27 août</c:v>
                  </c:pt>
                  <c:pt idx="4">
                    <c:v>3 sept</c:v>
                  </c:pt>
                  <c:pt idx="5">
                    <c:v>10 sept</c:v>
                  </c:pt>
                  <c:pt idx="6">
                    <c:v>17 sept</c:v>
                  </c:pt>
                  <c:pt idx="7">
                    <c:v>24 sept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</c:v>
                </c:pt>
                <c:pt idx="1">
                  <c:v>4</c:v>
                </c:pt>
                <c:pt idx="2">
                  <c:v>0</c:v>
                </c:pt>
                <c:pt idx="3">
                  <c:v>0</c:v>
                </c:pt>
                <c:pt idx="4">
                  <c:v>20</c:v>
                </c:pt>
                <c:pt idx="5">
                  <c:v>4</c:v>
                </c:pt>
                <c:pt idx="6">
                  <c:v>42</c:v>
                </c:pt>
                <c:pt idx="7">
                  <c:v>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33132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4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33132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00000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Poppins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Poppins"/>
              </a:rPr>
              <a:t>% des pubs qui présentent l'appli (solution-aware)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Pubs qui présentent l'appli</c:v>
                </c:pt>
              </c:strCache>
            </c:strRef>
          </c:tx>
          <c:spPr>
            <a:solidFill>
              <a:srgbClr val="A4193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419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5B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A7A12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10%</c:v>
                  </c:pt>
                  <c:pt idx="1">
                    <c:v>Joko</c:v>
                  </c:pt>
                  <c:pt idx="2">
                    <c:v>Ibotta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</c:v>
                </c:pt>
                <c:pt idx="1">
                  <c:v>33</c:v>
                </c:pt>
                <c:pt idx="2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65760"/>
            <a:ext cx="6309360" cy="4434840"/>
          </a:xfrm>
          <a:prstGeom prst="rect">
            <a:avLst/>
          </a:pr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68580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i="1" dirty="0">
                <a:solidFill>
                  <a:srgbClr val="000000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report you never asked for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4193D"/>
                </a:solidFill>
                <a:latin typeface="Architects Daughter" pitchFamily="34" charset="0"/>
                <a:ea typeface="Architects Daughter" pitchFamily="34" charset="-122"/>
                <a:cs typeface="Architects Daughter" pitchFamily="34" charset="-120"/>
              </a:rPr>
              <a:t>…but pls read it</a:t>
            </a:r>
            <a:endParaRPr lang="en-US" sz="2400" dirty="0"/>
          </a:p>
        </p:txBody>
      </p:sp>
      <p:pic>
        <p:nvPicPr>
          <p:cNvPr id="5" name="Image 0" descr="/tmp/claude-0/-home-user-meta-ads---10-pourcent/a8c37ddd-b273-55c4-b52d-d5d00ba8e18a/scratchpad/deck/img/image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606040"/>
            <a:ext cx="347472" cy="3474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257860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some insights from 10%, Joko &amp; Ibotta, scrapées le 30 septembre 2026</a:t>
            </a:r>
            <a:endParaRPr lang="en-US" sz="1300" dirty="0"/>
          </a:p>
        </p:txBody>
      </p:sp>
      <p:pic>
        <p:nvPicPr>
          <p:cNvPr id="7" name="Image 1" descr="/tmp/claude-0/-home-user-meta-ads---10-pourcent/a8c37ddd-b273-55c4-b52d-d5d00ba8e18a/scratchpad/deck/img/image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246120"/>
            <a:ext cx="347472" cy="3474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34440" y="320040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J'ai récupéré toutes les pubs actives de 10%, Joko et Ibotta, soit 337 pubs. J'ai transcrit les vidéos et classé chaque pub par hook, angle, niveau de conscience et format.</a:t>
            </a:r>
            <a:endParaRPr lang="en-US" sz="1250" dirty="0"/>
          </a:p>
        </p:txBody>
      </p:sp>
      <p:pic>
        <p:nvPicPr>
          <p:cNvPr id="9" name="Image 2" descr="/tmp/claude-0/-home-user-meta-ads---10-pourcent/a8c37ddd-b273-55c4-b52d-d5d00ba8e18a/scratchpad/deck/img/image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417320"/>
            <a:ext cx="288036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566928" cy="566928"/>
          </a:xfrm>
          <a:prstGeom prst="ellipse">
            <a:avLst/>
          </a:prstGeom>
          <a:solidFill>
            <a:srgbClr val="F9C74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" y="320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chitects Daughter" pitchFamily="34" charset="0"/>
                <a:ea typeface="Architects Daughter" pitchFamily="34" charset="-122"/>
                <a:cs typeface="Architects Daughter" pitchFamily="34" charset="-120"/>
              </a:rPr>
              <a:t>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01752"/>
            <a:ext cx="585216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sx="100000" sy="100000" kx="0" ky="0" algn="bl" rotWithShape="0" blurRad="101600" dist="50800" dir="2700000">
              <a:srgbClr val="000000">
                <a:alpha val="100000"/>
              </a:srgbClr>
            </a:outerShdw>
          </a:effectLst>
        </p:spPr>
        <p:txBody>
          <a:bodyPr wrap="square" lIns="50800" tIns="152400" rIns="152400" bIns="5080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rgbClr val="000000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Joko et Ibotta testent beaucoup plus vite</a:t>
            </a:r>
            <a:endParaRPr lang="en-US" sz="2100" dirty="0"/>
          </a:p>
        </p:txBody>
      </p:sp>
      <p:pic>
        <p:nvPicPr>
          <p:cNvPr id="5" name="Image 0" descr="/tmp/claude-0/-home-user-meta-ads---10-pourcent/a8c37ddd-b273-55c4-b52d-d5d00ba8e18a/scratchpad/deck/img/image9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360000">
            <a:off x="7178040" y="137160"/>
            <a:ext cx="1691640" cy="10241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20040" y="1234440"/>
            <a:ext cx="5257800" cy="260604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411480" y="1298448"/>
          <a:ext cx="507492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806440" y="1234440"/>
            <a:ext cx="868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i="1" dirty="0">
                <a:solidFill>
                  <a:srgbClr val="005B9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69</a:t>
            </a:r>
            <a:endParaRPr lang="en-US" sz="3400" dirty="0"/>
          </a:p>
        </p:txBody>
      </p:sp>
      <p:sp>
        <p:nvSpPr>
          <p:cNvPr id="9" name="Text 5"/>
          <p:cNvSpPr txBox="1"/>
          <p:nvPr/>
        </p:nvSpPr>
        <p:spPr>
          <a:xfrm>
            <a:off x="6812280" y="1234440"/>
            <a:ext cx="2057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Joko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nouvelles pubs en 7 jours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806440" y="1892808"/>
            <a:ext cx="868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i="1" dirty="0">
                <a:solidFill>
                  <a:srgbClr val="BA7A1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25</a:t>
            </a:r>
            <a:endParaRPr lang="en-US" sz="3400" dirty="0"/>
          </a:p>
        </p:txBody>
      </p:sp>
      <p:sp>
        <p:nvSpPr>
          <p:cNvPr id="11" name="Text 7"/>
          <p:cNvSpPr txBox="1"/>
          <p:nvPr/>
        </p:nvSpPr>
        <p:spPr>
          <a:xfrm>
            <a:off x="6812280" y="1892808"/>
            <a:ext cx="2057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Ibotta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nouvelles pubs en 7 jours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5806440" y="2551176"/>
            <a:ext cx="868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i="1" dirty="0">
                <a:solidFill>
                  <a:srgbClr val="A4193D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3400" dirty="0"/>
          </a:p>
        </p:txBody>
      </p:sp>
      <p:sp>
        <p:nvSpPr>
          <p:cNvPr id="13" name="Text 9"/>
          <p:cNvSpPr txBox="1"/>
          <p:nvPr/>
        </p:nvSpPr>
        <p:spPr>
          <a:xfrm>
            <a:off x="6812280" y="2551176"/>
            <a:ext cx="2057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nouvelles pubs en 7 jours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5806440" y="329184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Joko en a sorti 45 le même jour. Une seule phrase, « T'as pas Joko ? Alors t'as sûrement déjà perdu 200€ », revient sur 99 de ses pubs, et ce sont les vidéos en dessous qui changent.</a:t>
            </a:r>
            <a:endParaRPr lang="en-US" sz="1050" dirty="0"/>
          </a:p>
        </p:txBody>
      </p:sp>
      <p:pic>
        <p:nvPicPr>
          <p:cNvPr id="15" name="Image 1" descr="/tmp/claude-0/-home-user-meta-ads---10-pourcent/a8c37ddd-b273-55c4-b52d-d5d00ba8e18a/scratchpad/deck/img/image9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931920"/>
            <a:ext cx="566928" cy="11887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0" y="406908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chitects Daughter" pitchFamily="34" charset="0"/>
                <a:ea typeface="Architects Daughter" pitchFamily="34" charset="-122"/>
                <a:cs typeface="Architects Daughter" pitchFamily="34" charset="-120"/>
              </a:rPr>
              <a:t>Oui, c'est évident, et c'est sûrement pour ça que vous recrutez (no shit, Sherlock).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566928" cy="566928"/>
          </a:xfrm>
          <a:prstGeom prst="ellipse">
            <a:avLst/>
          </a:prstGeom>
          <a:solidFill>
            <a:srgbClr val="F9C74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" y="320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chitects Daughter" pitchFamily="34" charset="0"/>
                <a:ea typeface="Architects Daughter" pitchFamily="34" charset="-122"/>
                <a:cs typeface="Architects Daughter" pitchFamily="34" charset="-120"/>
              </a:rPr>
              <a:t>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256032"/>
            <a:ext cx="77724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sx="100000" sy="100000" kx="0" ky="0" algn="bl" rotWithShape="0" blurRad="101600" dist="50800" dir="2700000">
              <a:srgbClr val="000000">
                <a:alpha val="100000"/>
              </a:srgbClr>
            </a:outerShdw>
          </a:effectLst>
        </p:spPr>
        <p:txBody>
          <a:bodyPr wrap="square" lIns="50800" tIns="152400" rIns="152400" bIns="5080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000000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Presque toutes les pubs de 10% parlent à des gens qui cherchent déjà une appli de cashback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0040" y="1417320"/>
            <a:ext cx="4160520" cy="224028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411480" y="1481328"/>
          <a:ext cx="397764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800600" y="141732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93% des pubs de 10% présentent l'appli, contre 33% chez Joko et 67% chez Ibotta. Leurs autres pubs parlent du problème : les courses qui coûtent trop cher, l'argent qu'on laisse en caisse.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800600" y="246888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It's probably meant to build awareness, but it still shrinks the market: you only reach solution-aware people who are already looking for an app. What about everyone higher up the funnel?</a:t>
            </a:r>
            <a:endParaRPr lang="en-US" sz="1150" dirty="0"/>
          </a:p>
        </p:txBody>
      </p:sp>
      <p:pic>
        <p:nvPicPr>
          <p:cNvPr id="9" name="Image 0" descr="/tmp/claude-0/-home-user-meta-ads---10-pourcent/a8c37ddd-b273-55c4-b52d-d5d00ba8e18a/scratchpad/deck/img/image1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468880"/>
            <a:ext cx="804672" cy="1133856"/>
          </a:xfrm>
          <a:prstGeom prst="rect">
            <a:avLst/>
          </a:prstGeom>
        </p:spPr>
      </p:pic>
      <p:pic>
        <p:nvPicPr>
          <p:cNvPr id="10" name="Image 1" descr="/tmp/claude-0/-home-user-meta-ads---10-pourcent/a8c37ddd-b273-55c4-b52d-d5d00ba8e18a/scratchpad/deck/img/image19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794760"/>
            <a:ext cx="822960" cy="12344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88620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chitects Daughter" pitchFamily="34" charset="0"/>
                <a:ea typeface="Architects Daughter" pitchFamily="34" charset="-122"/>
                <a:cs typeface="Architects Daughter" pitchFamily="34" charset="-120"/>
              </a:rPr>
              <a:t>Also, the Meta algorithm seems to like having ads at different awareness levels, and uses them for retargeting. Disclaimer: I have zero proof 🤷 I heard it on Instagram, source: trust me bro.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566928" cy="566928"/>
          </a:xfrm>
          <a:prstGeom prst="ellipse">
            <a:avLst/>
          </a:prstGeom>
          <a:solidFill>
            <a:srgbClr val="F9C74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" y="320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chitects Daughter" pitchFamily="34" charset="0"/>
                <a:ea typeface="Architects Daughter" pitchFamily="34" charset="-122"/>
                <a:cs typeface="Architects Daughter" pitchFamily="34" charset="-120"/>
              </a:rPr>
              <a:t>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01752"/>
            <a:ext cx="777240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sx="100000" sy="100000" kx="0" ky="0" algn="bl" rotWithShape="0" blurRad="101600" dist="50800" dir="2700000">
              <a:srgbClr val="000000">
                <a:alpha val="100000"/>
              </a:srgbClr>
            </a:outerShdw>
          </a:effectLst>
        </p:spPr>
        <p:txBody>
          <a:bodyPr wrap="square" lIns="50800" tIns="152400" rIns="152400" bIns="5080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000000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10% a un catalogue de 1 300 produits, mais aucune pub catalogue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2633472" cy="224028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21208" y="13533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chitects Daughter" pitchFamily="34" charset="0"/>
                <a:ea typeface="Architects Daughter" pitchFamily="34" charset="-122"/>
                <a:cs typeface="Architects Daughter" pitchFamily="34" charset="-120"/>
              </a:rPr>
              <a:t>Ibotta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21208" y="1691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i="1" dirty="0">
                <a:solidFill>
                  <a:srgbClr val="BA7A1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32</a:t>
            </a:r>
            <a:endParaRPr lang="en-US" sz="5000" dirty="0"/>
          </a:p>
        </p:txBody>
      </p:sp>
      <p:sp>
        <p:nvSpPr>
          <p:cNvPr id="8" name="Text 6"/>
          <p:cNvSpPr txBox="1"/>
          <p:nvPr/>
        </p:nvSpPr>
        <p:spPr>
          <a:xfrm>
            <a:off x="521208" y="248716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i="1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pubs catalogue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21208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tournent depuis 30+ jours, la plus ancienne depuis 483 jours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72968" y="1234440"/>
            <a:ext cx="2633472" cy="224028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74136" y="13533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chitects Daughter" pitchFamily="34" charset="0"/>
                <a:ea typeface="Architects Daughter" pitchFamily="34" charset="-122"/>
                <a:cs typeface="Architects Daughter" pitchFamily="34" charset="-120"/>
              </a:rPr>
              <a:t>Joko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374136" y="1691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i="1" dirty="0">
                <a:solidFill>
                  <a:srgbClr val="005B9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</a:t>
            </a:r>
            <a:endParaRPr lang="en-US" sz="5000" dirty="0"/>
          </a:p>
        </p:txBody>
      </p:sp>
      <p:sp>
        <p:nvSpPr>
          <p:cNvPr id="13" name="Text 11"/>
          <p:cNvSpPr txBox="1"/>
          <p:nvPr/>
        </p:nvSpPr>
        <p:spPr>
          <a:xfrm>
            <a:off x="3374136" y="248716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i="1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pubs catalogue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374136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tournent depuis 30+ jours, jusqu'à 188 jours (sa pub la plus ancienne)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25896" y="1234440"/>
            <a:ext cx="2633472" cy="2240280"/>
          </a:xfrm>
          <a:prstGeom prst="rect">
            <a:avLst/>
          </a:prstGeom>
          <a:solidFill>
            <a:srgbClr val="FFF4CC"/>
          </a:solidFill>
          <a:ln w="381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27064" y="13533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chitects Daughter" pitchFamily="34" charset="0"/>
                <a:ea typeface="Architects Daughter" pitchFamily="34" charset="-122"/>
                <a:cs typeface="Architects Daughter" pitchFamily="34" charset="-120"/>
              </a:rPr>
              <a:t>10%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227064" y="1691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i="1" dirty="0">
                <a:solidFill>
                  <a:srgbClr val="A4193D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</a:t>
            </a:r>
            <a:endParaRPr lang="en-US" sz="5000" dirty="0"/>
          </a:p>
        </p:txBody>
      </p:sp>
      <p:sp>
        <p:nvSpPr>
          <p:cNvPr id="18" name="Text 16"/>
          <p:cNvSpPr txBox="1"/>
          <p:nvPr/>
        </p:nvSpPr>
        <p:spPr>
          <a:xfrm>
            <a:off x="6227064" y="248716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i="1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 catalogue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227064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…pour 1 300 produits éligibles</a:t>
            </a:r>
            <a:endParaRPr lang="en-US" sz="1000" dirty="0"/>
          </a:p>
        </p:txBody>
      </p:sp>
      <p:pic>
        <p:nvPicPr>
          <p:cNvPr id="20" name="Image 0" descr="/tmp/claude-0/-home-user-meta-ads---10-pourcent/a8c37ddd-b273-55c4-b52d-d5d00ba8e18a/scratchpad/deck/img/image7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11880"/>
            <a:ext cx="896112" cy="146304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463040" y="38404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Avec un flux « 10% remboursés sur [produit] », Meta peut générer des centaines de variantes à partir des visuels que vous avez déjà.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566928" cy="566928"/>
          </a:xfrm>
          <a:prstGeom prst="ellipse">
            <a:avLst/>
          </a:prstGeom>
          <a:solidFill>
            <a:srgbClr val="F9C74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" y="320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chitects Daughter" pitchFamily="34" charset="0"/>
                <a:ea typeface="Architects Daughter" pitchFamily="34" charset="-122"/>
                <a:cs typeface="Architects Daughter" pitchFamily="34" charset="-120"/>
              </a:rPr>
              <a:t>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256032"/>
            <a:ext cx="77724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sx="100000" sy="100000" kx="0" ky="0" algn="bl" rotWithShape="0" blurRad="101600" dist="50800" dir="2700000">
              <a:srgbClr val="000000">
                <a:alpha val="100000"/>
              </a:srgbClr>
            </a:outerShdw>
          </a:effectLst>
        </p:spPr>
        <p:txBody>
          <a:bodyPr wrap="square" lIns="50800" tIns="152400" rIns="152400" bIns="5080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000000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Les marques partenaires sont votre avantage, et Joko arrive sur le terrain des parents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0040" y="1417320"/>
            <a:ext cx="4069080" cy="160020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15087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chitects Daughter" pitchFamily="34" charset="0"/>
                <a:ea typeface="Architects Daughter" pitchFamily="34" charset="-122"/>
                <a:cs typeface="Architects Daughter" pitchFamily="34" charset="-120"/>
              </a:rPr>
              <a:t>Pubs avec des marques partenaires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84248"/>
            <a:ext cx="91440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>
            <a:outerShdw sx="100000" sy="100000" kx="0" ky="0" algn="bl" rotWithShape="0" blurRad="101600" dist="50800" dir="2700000">
              <a:srgbClr val="000000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i="1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Gallia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1984248"/>
            <a:ext cx="105156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>
            <a:outerShdw sx="100000" sy="100000" kx="0" ky="0" algn="bl" rotWithShape="0" blurRad="101600" dist="50800" dir="2700000">
              <a:srgbClr val="000000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i="1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Blédina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1984248"/>
            <a:ext cx="146304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>
            <a:outerShdw sx="100000" sy="100000" kx="0" ky="0" algn="bl" rotWithShape="0" blurRad="101600" dist="50800" dir="2700000">
              <a:srgbClr val="000000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i="1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 Petit Basque</a:t>
            </a:r>
            <a:endParaRPr lang="en-US" sz="1050" dirty="0"/>
          </a:p>
        </p:txBody>
      </p:sp>
      <p:pic>
        <p:nvPicPr>
          <p:cNvPr id="10" name="Image 0" descr="/tmp/claude-0/-home-user-meta-ads---10-pourcent/a8c37ddd-b273-55c4-b52d-d5d00ba8e18a/scratchpad/deck/img/image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60320"/>
            <a:ext cx="274320" cy="274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914400" y="25420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 est le seul des trois à en faire.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754880" y="1417320"/>
            <a:ext cx="4069080" cy="160020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37760" y="14630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005B9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pPr indent="0" marL="0">
              <a:buNone/>
            </a:pPr>
            <a:r>
              <a:rPr lang="en-US" sz="2200" b="1" i="1" dirty="0">
                <a:solidFill>
                  <a:srgbClr val="000000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/ 13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4937760" y="219456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nouvelles vidéos créateurs de Joko (30 septembre) racontent des histoires de mamans.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20040" y="31546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i="1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 Partnership Ads avec deux ou trois marques partenaires, financées par elles, permettraient de garder ce terrain.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320040" y="3840480"/>
            <a:ext cx="708660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88620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Méthode : </a:t>
            </a:r>
            <a:pPr indent="0" marL="0">
              <a:buNone/>
            </a:pPr>
            <a:r>
              <a:rPr lang="en-US" sz="1050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scraping avec Apify, transcription avec Whisper, classification testée avec Jev (TypeSafe) puis faite avec Claude, et vérifiée à la main. </a:t>
            </a:r>
            <a:pPr indent="0" marL="0">
              <a:buNone/>
            </a:pPr>
            <a:r>
              <a:rPr lang="en-US" sz="1050" b="1" i="1" dirty="0">
                <a:solidFill>
                  <a:srgbClr val="A4193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Les données sont ici : [lien Google Sheet]</a:t>
            </a:r>
            <a:endParaRPr lang="en-US" sz="1050" dirty="0"/>
          </a:p>
        </p:txBody>
      </p:sp>
      <p:pic>
        <p:nvPicPr>
          <p:cNvPr id="18" name="Image 1" descr="/tmp/claude-0/-home-user-meta-ads---10-pourcent/a8c37ddd-b273-55c4-b52d-d5d00ba8e18a/scratchpad/deck/img/image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154680"/>
            <a:ext cx="1097280" cy="1783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report you never asked for</dc:title>
  <dc:subject>PptxGenJS Presentation</dc:subject>
  <dc:creator>PptxGenJS</dc:creator>
  <cp:lastModifiedBy>PptxGenJS</cp:lastModifiedBy>
  <cp:revision>1</cp:revision>
  <dcterms:created xsi:type="dcterms:W3CDTF">2026-10-01T00:36:25Z</dcterms:created>
  <dcterms:modified xsi:type="dcterms:W3CDTF">2026-10-01T00:36:25Z</dcterms:modified>
</cp:coreProperties>
</file>