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B2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1B2F"/>
                </a:solidFill>
                <a:latin typeface="Calibri"/>
              </a:rPr>
              <a:t>Pubs actives, par semaine de lancement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10%</c:v>
                </c:pt>
              </c:strCache>
            </c:strRef>
          </c:tx>
          <c:spPr>
            <a:solidFill>
              <a:srgbClr val="EF4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6 août</c:v>
                  </c:pt>
                  <c:pt idx="1">
                    <c:v>13 août</c:v>
                  </c:pt>
                  <c:pt idx="2">
                    <c:v>20 août</c:v>
                  </c:pt>
                  <c:pt idx="3">
                    <c:v>27 août</c:v>
                  </c:pt>
                  <c:pt idx="4">
                    <c:v>3 sept</c:v>
                  </c:pt>
                  <c:pt idx="5">
                    <c:v>10 sept</c:v>
                  </c:pt>
                  <c:pt idx="6">
                    <c:v>17 sept</c:v>
                  </c:pt>
                  <c:pt idx="7">
                    <c:v>24 sept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6</c:v>
                </c:pt>
                <c:pt idx="2">
                  <c:v>4</c:v>
                </c:pt>
                <c:pt idx="3">
                  <c:v>1</c:v>
                </c:pt>
                <c:pt idx="4">
                  <c:v>0</c:v>
                </c:pt>
                <c:pt idx="5">
                  <c:v>11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Joko</c:v>
                </c:pt>
              </c:strCache>
            </c:strRef>
          </c:tx>
          <c:spPr>
            <a:solidFill>
              <a:srgbClr val="5B5B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6 août</c:v>
                  </c:pt>
                  <c:pt idx="1">
                    <c:v>13 août</c:v>
                  </c:pt>
                  <c:pt idx="2">
                    <c:v>20 août</c:v>
                  </c:pt>
                  <c:pt idx="3">
                    <c:v>27 août</c:v>
                  </c:pt>
                  <c:pt idx="4">
                    <c:v>3 sept</c:v>
                  </c:pt>
                  <c:pt idx="5">
                    <c:v>10 sept</c:v>
                  </c:pt>
                  <c:pt idx="6">
                    <c:v>17 sept</c:v>
                  </c:pt>
                  <c:pt idx="7">
                    <c:v>24 sept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</c:v>
                </c:pt>
                <c:pt idx="1">
                  <c:v>0</c:v>
                </c:pt>
                <c:pt idx="2">
                  <c:v>15</c:v>
                </c:pt>
                <c:pt idx="3">
                  <c:v>3</c:v>
                </c:pt>
                <c:pt idx="4">
                  <c:v>10</c:v>
                </c:pt>
                <c:pt idx="5">
                  <c:v>13</c:v>
                </c:pt>
                <c:pt idx="6">
                  <c:v>14</c:v>
                </c:pt>
                <c:pt idx="7">
                  <c:v>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Ibotta</c:v>
                </c:pt>
              </c:strCache>
            </c:strRef>
          </c:tx>
          <c:spPr>
            <a:solidFill>
              <a:srgbClr val="0E9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6 août</c:v>
                  </c:pt>
                  <c:pt idx="1">
                    <c:v>13 août</c:v>
                  </c:pt>
                  <c:pt idx="2">
                    <c:v>20 août</c:v>
                  </c:pt>
                  <c:pt idx="3">
                    <c:v>27 août</c:v>
                  </c:pt>
                  <c:pt idx="4">
                    <c:v>3 sept</c:v>
                  </c:pt>
                  <c:pt idx="5">
                    <c:v>10 sept</c:v>
                  </c:pt>
                  <c:pt idx="6">
                    <c:v>17 sept</c:v>
                  </c:pt>
                  <c:pt idx="7">
                    <c:v>24 sept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  <c:pt idx="4">
                  <c:v>20</c:v>
                </c:pt>
                <c:pt idx="5">
                  <c:v>4</c:v>
                </c:pt>
                <c:pt idx="6">
                  <c:v>42</c:v>
                </c:pt>
                <c:pt idx="7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B2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B2F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1B2F"/>
                </a:solidFill>
                <a:latin typeface="Calibri"/>
              </a:rPr>
              <a:t>% des pubs qui présentent l'appli (solution-aware)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Pubs qui présentent l'appli</c:v>
                </c:pt>
              </c:strCache>
            </c:strRef>
          </c:tx>
          <c:spPr>
            <a:solidFill>
              <a:srgbClr val="EF4B4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B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B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5B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E8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10%</c:v>
                  </c:pt>
                  <c:pt idx="1">
                    <c:v>Joko</c:v>
                  </c:pt>
                  <c:pt idx="2">
                    <c:v>Ibotta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33</c:v>
                </c:pt>
                <c:pt idx="2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B1B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B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report you never asked for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126480" y="502920"/>
            <a:ext cx="256032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B1B2F"/>
            </a:solidFill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pls read it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06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insights from 10%, Joko &amp; Ibotta, scrapées le 30 septembre 2026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429000"/>
            <a:ext cx="5669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B1B2F"/>
            </a:solidFill>
            <a:prstDash val="solid"/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47472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récupéré toutes les pubs actives de 10%, Joko et Ibotta, soit 335 pubs. J'ai transcrit les vidéos et classé chaque pub par hook, angle, niveau de conscience et format.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2103120"/>
            <a:ext cx="1920240" cy="19202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B1B2F"/>
            </a:solidFill>
            <a:prstDash val="solid"/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560320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0" y="4251960"/>
            <a:ext cx="777240" cy="365760"/>
          </a:xfrm>
          <a:prstGeom prst="roundRect">
            <a:avLst>
              <a:gd name="adj" fmla="val 37500"/>
            </a:avLst>
          </a:prstGeom>
          <a:solidFill>
            <a:srgbClr val="EF4B4B"/>
          </a:solidFill>
          <a:ln w="25400">
            <a:solidFill>
              <a:srgbClr val="1B1B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4251960"/>
            <a:ext cx="777240" cy="365760"/>
          </a:xfrm>
          <a:prstGeom prst="roundRect">
            <a:avLst>
              <a:gd name="adj" fmla="val 37500"/>
            </a:avLst>
          </a:prstGeom>
          <a:solidFill>
            <a:srgbClr val="5B5BD6"/>
          </a:solidFill>
          <a:ln w="25400">
            <a:solidFill>
              <a:srgbClr val="1B1B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251960"/>
            <a:ext cx="777240" cy="365760"/>
          </a:xfrm>
          <a:prstGeom prst="roundRect">
            <a:avLst>
              <a:gd name="adj" fmla="val 37500"/>
            </a:avLst>
          </a:prstGeom>
          <a:solidFill>
            <a:srgbClr val="0E9E8C"/>
          </a:solidFill>
          <a:ln w="25400">
            <a:solidFill>
              <a:srgbClr val="1B1B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Ibotta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F4B4B"/>
          </a:solidFill>
          <a:ln w="25400">
            <a:solidFill>
              <a:srgbClr val="1B1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B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Joko et Ibotta testent beaucoup plus vite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1206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31750">
            <a:solidFill>
              <a:srgbClr val="1B1B2F"/>
            </a:solidFill>
            <a:prstDash val="solid"/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760720" y="109728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5B5B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69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10972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pubs en 7 jours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810512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E9E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8105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Ibotta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pubs en 7 jours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2523744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F4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252374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pubs en 7 jours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3291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Joko en a sorti 45 le même jour. Une seule phrase, « T'as pas Joko ? Alors t'as sûrement déjà perdu 200€ », revient sur 99 de ses pubs, et ce sont les vidéos en dessous qui changent.</a:t>
            </a:r>
            <a:endParaRPr lang="en-US" sz="11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15968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34440" y="4315968"/>
            <a:ext cx="5029200" cy="566928"/>
          </a:xfrm>
          <a:prstGeom prst="rect">
            <a:avLst/>
          </a:prstGeom>
          <a:solidFill>
            <a:srgbClr val="FFD93D"/>
          </a:solidFill>
          <a:ln w="31750">
            <a:solidFill>
              <a:srgbClr val="1B1B2F"/>
            </a:solidFill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c'est évident, et c'est sûrement pour ça que vous recrutez (no shit, Sherlock).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F4B4B"/>
          </a:solidFill>
          <a:ln w="25400">
            <a:solidFill>
              <a:srgbClr val="1B1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Presque toutes les pubs de 10% parlent à des gens qui cherchent déjà une appli de cashback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31750">
            <a:solidFill>
              <a:srgbClr val="1B1B2F"/>
            </a:solidFill>
            <a:prstDash val="solid"/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39319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892040" y="13258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des pubs de 10% présentent l'appli, contre 33% chez Joko et 67% chez Ibotta. Leurs autres pubs parlent du problème : les courses qui coûtent trop cher, l'argent qu'on laisse en caisse.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24231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probably meant to build awareness, but it still shrinks the market: you only reach solution-aware people who are already looking for an app. What about everyone higher up the funnel?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 rot="-60000">
            <a:off x="731520" y="3931920"/>
            <a:ext cx="7680960" cy="868680"/>
          </a:xfrm>
          <a:prstGeom prst="rect">
            <a:avLst/>
          </a:prstGeom>
          <a:solidFill>
            <a:srgbClr val="FFF3A8"/>
          </a:solidFill>
          <a:ln w="25400">
            <a:solidFill>
              <a:srgbClr val="1B1B2F"/>
            </a:solidFill>
            <a:prstDash val="solid"/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 rot="-60000">
            <a:off x="1600200" y="397764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Also, the Meta algorithm seems to like having ads at different awareness levels, and uses them for retargeting. Disclaimer: I have zero proof 🤷 I heard it on Instagram, source: trust me bro.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F4B4B"/>
          </a:solidFill>
          <a:ln w="25400">
            <a:solidFill>
              <a:srgbClr val="1B1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10% a un catalogue de 1 300 produits, mais aucune pub catalogue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56032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1750">
            <a:solidFill>
              <a:srgbClr val="1B1B2F"/>
            </a:solidFill>
            <a:prstDash val="solid"/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0E9E8C"/>
          </a:solidFill>
          <a:ln w="25400">
            <a:solidFill>
              <a:srgbClr val="1B1B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Ibotta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9E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 catalogue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52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tournent depuis 30+ jours, la plus ancienne depuis 483 jours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56032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1750">
            <a:solidFill>
              <a:srgbClr val="1B1B2F"/>
            </a:solidFill>
            <a:prstDash val="solid"/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74720" y="1280160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5B5BD6"/>
          </a:solidFill>
          <a:ln w="25400">
            <a:solidFill>
              <a:srgbClr val="1B1B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B5B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 catalogue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852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tournent depuis 30+ jours, jusqu'à 188 jours (sa pub la plus ancienne)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560320" cy="2514600"/>
          </a:xfrm>
          <a:prstGeom prst="roundRect">
            <a:avLst>
              <a:gd name="adj" fmla="val 5455"/>
            </a:avLst>
          </a:prstGeom>
          <a:solidFill>
            <a:srgbClr val="FFD93D"/>
          </a:solidFill>
          <a:ln w="31750">
            <a:solidFill>
              <a:srgbClr val="1B1B2F"/>
            </a:solidFill>
            <a:prstDash val="solid"/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09360" y="1280160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EF4B4B"/>
          </a:solidFill>
          <a:ln w="25400">
            <a:solidFill>
              <a:srgbClr val="1B1B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F4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 catalogue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852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…pour 1 300 produits éligibles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0"/>
            <a:ext cx="548640" cy="5486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34440" y="393192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flux « 10% remboursés sur [produit] », Meta peut générer des centaines de variantes à partir des visuels que vous avez déjà.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F4B4B"/>
          </a:solidFill>
          <a:ln w="25400">
            <a:solidFill>
              <a:srgbClr val="1B1B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B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 marques partenaires sont votre avantage, et Joko arrive sur le terrain des parents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1750">
            <a:solidFill>
              <a:srgbClr val="1B1B2F"/>
            </a:solidFill>
            <a:prstDash val="solid"/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 avec des marques partenaires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48840"/>
            <a:ext cx="868680" cy="384048"/>
          </a:xfrm>
          <a:prstGeom prst="roundRect">
            <a:avLst>
              <a:gd name="adj" fmla="val 35714"/>
            </a:avLst>
          </a:prstGeom>
          <a:solidFill>
            <a:srgbClr val="FFD93D"/>
          </a:solidFill>
          <a:ln w="25400">
            <a:solidFill>
              <a:srgbClr val="1B1B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Gallia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148840"/>
            <a:ext cx="960120" cy="384048"/>
          </a:xfrm>
          <a:prstGeom prst="roundRect">
            <a:avLst>
              <a:gd name="adj" fmla="val 35714"/>
            </a:avLst>
          </a:prstGeom>
          <a:solidFill>
            <a:srgbClr val="FFD93D"/>
          </a:solidFill>
          <a:ln w="25400">
            <a:solidFill>
              <a:srgbClr val="1B1B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Blédina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2148840"/>
            <a:ext cx="1600200" cy="384048"/>
          </a:xfrm>
          <a:prstGeom prst="roundRect">
            <a:avLst>
              <a:gd name="adj" fmla="val 35714"/>
            </a:avLst>
          </a:prstGeom>
          <a:solidFill>
            <a:srgbClr val="FFD93D"/>
          </a:solidFill>
          <a:ln w="25400">
            <a:solidFill>
              <a:srgbClr val="1B1B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Petit Basque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est le seul des trois à en faire.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393192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1750">
            <a:solidFill>
              <a:srgbClr val="1B1B2F"/>
            </a:solidFill>
            <a:prstDash val="solid"/>
          </a:ln>
          <a:effectLst>
            <a:outerShdw sx="100000" sy="100000" kx="0" ky="0" algn="bl" rotWithShape="0" blurRad="101600" dist="63500" dir="2700000">
              <a:srgbClr val="1B1B2F">
                <a:alpha val="10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417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5B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1B1B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/ 13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2148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vidéos créateurs de Joko (30 septembre) racontent des histoires de mamans.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Partnership Ads avec deux ou trois marques partenaires, financées par elles, permettraient de garder ce terrain.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2F2F6"/>
          </a:solidFill>
          <a:ln w="19050">
            <a:solidFill>
              <a:srgbClr val="1B1B2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</a:t>
            </a:r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avec Apify, transcription avec Whisper, classification testée avec Jev (TypeSafe) puis faite avec Claude, et vérifiée à la main. </a:t>
            </a:r>
            <a:pPr indent="0" marL="0">
              <a:buNone/>
            </a:pPr>
            <a:r>
              <a:rPr lang="en-US" sz="1200" b="1" dirty="0">
                <a:solidFill>
                  <a:srgbClr val="E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ici : [lien Google Sheet]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report you never asked for</dc:title>
  <dc:subject>PptxGenJS Presentation</dc:subject>
  <dc:creator>PptxGenJS</dc:creator>
  <cp:lastModifiedBy>PptxGenJS</cp:lastModifiedBy>
  <cp:revision>1</cp:revision>
  <dcterms:created xsi:type="dcterms:W3CDTF">2026-09-30T23:58:35Z</dcterms:created>
  <dcterms:modified xsi:type="dcterms:W3CDTF">2026-09-30T23:58:35Z</dcterms:modified>
</cp:coreProperties>
</file>